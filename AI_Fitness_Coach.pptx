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AI Fitness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0CAF9"/>
                </a:solidFill>
                <a:latin typeface="Calibri"/>
              </a:rPr>
              <a:t>Розумний персональний тренер у смартфоні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FD8DC"/>
                </a:solidFill>
                <a:latin typeface="Calibri"/>
              </a:rPr>
              <a:t>Аналіз техніки виконання вправ через комп'ютерний зір
та динамічне порівняння з еталонним рухом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754880"/>
            <a:ext cx="2743200" cy="548640"/>
          </a:xfrm>
          <a:prstGeom prst="rect">
            <a:avLst/>
          </a:prstGeom>
          <a:solidFill>
            <a:srgbClr val="1A3C72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Прототип  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687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  80% людей займаються без тренера — і роблять це неправильно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CFD8DC"/>
                </a:solidFill>
                <a:latin typeface="Calibri"/>
              </a:rPr>
              <a:t>  Неправильна техніка → мікротравми → хронічні ушкодження суглобів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CFD8DC"/>
                </a:solidFill>
                <a:latin typeface="Calibri"/>
              </a:rPr>
              <a:t>  Персональний тренер: дорого, недоступно 24/7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CFD8DC"/>
                </a:solidFill>
                <a:latin typeface="Calibri"/>
              </a:rPr>
              <a:t>  YouTube-відео не дають персонального фідбеку</a:t>
            </a:r>
          </a:p>
          <a:p>
            <a:pPr algn="l"/>
            <a:r>
              <a:rPr sz="1900" b="0" i="0">
                <a:solidFill>
                  <a:srgbClr val="CFD8DC"/>
                </a:solidFill>
                <a:latin typeface="Calibri"/>
              </a:rPr>
              <a:t>  Спортзали не мають інструменту масштабованого контролю техніки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800600"/>
            <a:ext cx="11368735" cy="1600200"/>
          </a:xfrm>
          <a:prstGeom prst="rect">
            <a:avLst/>
          </a:prstGeom>
          <a:solidFill>
            <a:srgbClr val="0F2044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937760"/>
            <a:ext cx="1082009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90CAF9"/>
                </a:solidFill>
                <a:latin typeface="Calibri"/>
              </a:rPr>
              <a:t>"Я думав, що роблю все правильно —
поки не отримав травму коліна."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Рішення: AI Fitness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87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AF9"/>
                </a:solidFill>
                <a:latin typeface="Calibri"/>
              </a:rPr>
              <a:t>Система, що бачить вправу і коригує виконання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658368"/>
          </a:xfrm>
          <a:prstGeom prst="rect">
            <a:avLst/>
          </a:prstGeom>
          <a:solidFill>
            <a:srgbClr val="1A3C72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0" y="1984248"/>
            <a:ext cx="502920" cy="1097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2A5F5"/>
                </a:solidFill>
                <a:latin typeface="Calibri"/>
              </a:rPr>
              <a:t>Відео користувача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93976"/>
            <a:ext cx="11064240" cy="658368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2752344"/>
            <a:ext cx="502920" cy="1097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9397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FD8DC"/>
                </a:solidFill>
                <a:latin typeface="Calibri"/>
              </a:rPr>
              <a:t>Детекція 33 точок скелету  (MediaPipe)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62072"/>
            <a:ext cx="11064240" cy="658368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3520440"/>
            <a:ext cx="502920" cy="1097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FD8DC"/>
                </a:solidFill>
                <a:latin typeface="Calibri"/>
              </a:rPr>
              <a:t>9 кутових характеристик суглобів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30168"/>
            <a:ext cx="11064240" cy="658368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4288536"/>
            <a:ext cx="502920" cy="1097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3016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FD8DC"/>
                </a:solidFill>
                <a:latin typeface="Calibri"/>
              </a:rPr>
              <a:t>Порівняння з еталоном через DTW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98264"/>
            <a:ext cx="11064240" cy="658368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5056632"/>
            <a:ext cx="502920" cy="1097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98264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FD8DC"/>
                </a:solidFill>
                <a:latin typeface="Calibri"/>
              </a:rPr>
              <a:t>Оцінка 0–100 + класифікація помилок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66360"/>
            <a:ext cx="11064240" cy="658368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6BB6A"/>
                </a:solidFill>
                <a:latin typeface="Calibri"/>
              </a:rPr>
              <a:t>Персональний тренерський фідбек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Цільова аудиторія та бізнес-модель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57600" cy="521208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Спортзали  (B2B)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20"/>
            <a:ext cx="36576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Інтеграція в інфраструктуру залу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Аналіз техніки відвідувачів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Звіти для менеджменту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Монетизація через підписку залу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188720"/>
            <a:ext cx="3657600" cy="521208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Тренери  (B2B2C)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874520"/>
            <a:ext cx="36576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Запис власного еталону вправи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Аналіз клієнтів онлайн та офлайн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Масштабування без ручної роботи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Платформа для онлайн-коучингу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188720"/>
            <a:ext cx="3657600" cy="521208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Кінцевий користувач  (B2C)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874520"/>
            <a:ext cx="36576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0116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Мобільний додаток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Самостійні тренування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Прогрес і аналітика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D8DC"/>
                </a:solidFill>
                <a:latin typeface="Calibri"/>
              </a:rPr>
              <a:t>  •  Персональний план тренувань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113687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890A0"/>
                </a:solidFill>
                <a:latin typeface="Calibri"/>
              </a:rPr>
              <a:t>Тренер записує власний еталон вправи → система навчається під його методику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Що реалізовано у прототипі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68735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4988"/>
                <a:gridCol w="2273747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Детекція пози — MediaPipe 33 landmarks/кадр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 кутових ознак суглобів + нормалізація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Сегментація повторів (PCA + multi-scale peaks)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FastDTW порівняння з ваговими коефіцієнтами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Толерантна зона референсу (міжповторна σ)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Оцінка 0–100 + літерний грейд (A–F)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Класифікація: Critical (&gt;12°) / Technical (&gt;8°)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Генерація тренерських реплік (rule-based)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Анотація відео (скелет, шкала, фідбек-банер)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Motion Signature 99-dim + автовибір референсу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CLI: record / analyze / list / demo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✅ Готово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Загальна архітектура системи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8735" cy="53492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53312"/>
            <a:ext cx="11039551" cy="502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0F0"/>
                </a:solidFill>
                <a:latin typeface="Consolas"/>
              </a:rPr>
              <a:t>  ВІДЕО ДЖЕРЕЛО:  Файл  |  Камера  |  Стрім
           │
  ┌────────▼────────┐
  │  PoseDetector   │  MediaPipe — 33 landmarks (x, y, z, vis)
  └────────┬────────┘
           │
  ┌────────▼────────┐
  │FeatureExtractor │  9 кутових ознак суглобів + нормалізація
  └────────┬────────┘
           │
  ┌────────▼────────┐
  │   TimeSeries    │  (T × 9) float32  +  Savitzky-Golay згладжування
  └───────┬─────────┘
          │
   ┌──────┴──────┐
   │             │
RepSegmenter  ReferenceStore → find_best_match (cosine sim)
   │             │
   └──────┬──────┘
          │
  ┌───────▼──────────┐
  │  RepComparator   │  per-rep DTW  +  tolerance band
  └──┬───────┬────┬──┘
     │       │    │
 Scoring  Error  Feedback → VideoRenderer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Конвеєр обробки: крок за кроком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8735" cy="40233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53312"/>
            <a:ext cx="11039551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Відео
  └─ PoseDetector ──────────  33 landmarks / кадр (MediaPipe Tasks API)
       └─ FeatureExtractor ──  9 кутів суглобів / кадр
            └─ TimeSeries ───  (T × 9) згладжений масив
                 └─ RepSegmenter ─── PCA-сигнал + multi-scale peaks
                      └─ RepComparator
                           ├─ DTWComparator ──── вирівнювання по часу
                           ├─ ScoringEngine ──── оцінка 0–100
                           ├─ ErrorClassifier ── класифікація помилок
                           └─ FeedbackGenerator  тренерські репліки
Відеоанотація (окремий другий прохід по вихідному відео):
  AnalysisResult → VideoRenderer → FrameAnnotator → 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94960"/>
            <a:ext cx="113687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Чому другий прохід?</a:t>
            </a:r>
          </a:p>
          <a:p>
            <a:pPr algn="l"/>
            <a:r>
              <a:rPr sz="1600" b="0" i="0">
                <a:solidFill>
                  <a:srgbClr val="CFD8DC"/>
                </a:solidFill>
                <a:latin typeface="Calibri"/>
              </a:rPr>
              <a:t>Аналіз зберігає кути суглобів (float32), а не піксельні координати.</a:t>
            </a:r>
          </a:p>
          <a:p>
            <a:pPr algn="l"/>
            <a:r>
              <a:rPr sz="1600" b="0" i="0">
                <a:solidFill>
                  <a:srgbClr val="CFD8DC"/>
                </a:solidFill>
                <a:latin typeface="Calibri"/>
              </a:rPr>
              <a:t>Для малювання скелету детектор запускається повторно у static_image_mode.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Ключові технічні рішення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57600" cy="5212080"/>
          </a:xfrm>
          <a:prstGeom prst="rect">
            <a:avLst/>
          </a:prstGeom>
          <a:solidFill>
            <a:srgbClr val="101E3C"/>
          </a:solidFill>
          <a:ln w="1524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3657600" cy="59436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61872"/>
            <a:ext cx="33284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A5F5"/>
                </a:solidFill>
                <a:latin typeface="Calibri"/>
              </a:rPr>
              <a:t>Кути суглобів, а не координати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328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Координати залежать від відстані до камери, зросту, ракурсу.
Кут суглоба — чистий біомеханічний показник: 90° коліна = 90° завжди.
Нормалізація: hip_center + torso_length → інваріант до позиції.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188720"/>
            <a:ext cx="3657600" cy="5212080"/>
          </a:xfrm>
          <a:prstGeom prst="rect">
            <a:avLst/>
          </a:prstGeom>
          <a:solidFill>
            <a:srgbClr val="101E3C"/>
          </a:solidFill>
          <a:ln w="1524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3657600" cy="59436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33284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54F"/>
                </a:solidFill>
                <a:latin typeface="Calibri"/>
              </a:rPr>
              <a:t>FastDTW замість Euclidean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328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Euclidean потребує однакову довжину і часове вирівнювання.
DTW знаходить оптимальне вирівнювання по часовій осі.
FastDTW: O(N) — реальний час для до 500 кадрів.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188720"/>
            <a:ext cx="3657600" cy="5212080"/>
          </a:xfrm>
          <a:prstGeom prst="rect">
            <a:avLst/>
          </a:prstGeom>
          <a:solidFill>
            <a:srgbClr val="101E3C"/>
          </a:solidFill>
          <a:ln w="1524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188720"/>
            <a:ext cx="3657600" cy="59436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261872"/>
            <a:ext cx="33284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BB6A"/>
                </a:solidFill>
                <a:latin typeface="Calibri"/>
              </a:rPr>
              <a:t>PCA для сегментації повторів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20240"/>
            <a:ext cx="3328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PCA (перша головна компонента) об'єднує рухи всіх 9 суглобів.
Стійкіший сигнал, ніж будь-який один суглоб окремо.
Multi-scale smoothing прибирає внутрішньоповторний шум.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Додавання референсного прикладу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CLI-команди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11368735" cy="17373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11039551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# Один або декілька повторів у одному відео
python main.py record squat --video reference_squat.mp4
# Варіанти для різних кутів зйомки / технік
python main.py record squat_lowbar  --video lowbar_ref.mp4
python main.py record squat_front   --video front_angle.mp4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20440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Що відбувається всередині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977640"/>
            <a:ext cx="11368735" cy="26517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142232"/>
            <a:ext cx="11039551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Відео → PoseDetector → FeatureExtractor → TimeSeries
     ↓
RepSegmenter: знаходить границі повторів
     ↓  якщо N повторів
Усереднення в 1 canonical rep (RepComparator._build_canonical_rep)
     ↓
MotionSignature.from_timeseries()  →  99-dim vector
     ↓
Збереження JSON:  time_series (T×9) + signature (99 float32) + metadata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Підтримка потокового відео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687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Архітектура підтримує два режими входу: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CFD8DC"/>
                </a:solidFill>
                <a:latin typeface="Calibri"/>
              </a:rPr>
              <a:t>  •  Файл (офлайн-аналіз) — відео після тренування</a:t>
            </a:r>
          </a:p>
          <a:p>
            <a:pPr algn="l"/>
            <a:r>
              <a:rPr sz="1700" b="0" i="0">
                <a:solidFill>
                  <a:srgbClr val="CFD8DC"/>
                </a:solidFill>
                <a:latin typeface="Calibri"/>
              </a:rPr>
              <a:t>  •  Камера (онлайн / стрімінг) — відео в реальному часі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743200"/>
            <a:ext cx="11368735" cy="16002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907792"/>
            <a:ext cx="11039551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# Відеофайл
python main.py analyze squat --video workout.mp4 --output result.mp4
# Камера (0 = перша вебкамера)
python main.py analyze squat --video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480560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MediaPipe Running Modes: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937759"/>
            <a:ext cx="11368735" cy="16002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5102351"/>
            <a:ext cx="11039551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RunningMode.VIDEO       → синхронна обробка кадрів (файл / запис)
RunningMode.LIVE_STREAM → асинхронна з callback   (камера / стрім)
Мобільний SDK (Android / iOS): той самий конвеєр прямо на пристрої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Зберігання референсів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onsolas"/>
              </a:rPr>
              <a:t>references/squat.json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27632"/>
            <a:ext cx="5577840" cy="338328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92224"/>
            <a:ext cx="524865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0F0"/>
                </a:solidFill>
                <a:latin typeface="Consolas"/>
              </a:rPr>
              <a:t>{
  "name": "squat",
  "description": "Side view, barbell back squat",
  "time_series": {
    "fps": 30.0,
    "feature_names": ["left_knee_angle", ...],
    "data": [[171.2, 170.8, ...], ...]
  },
  "signature": {
    "vector": [131.4, 128.7, ..., 0.82],
    "feature_names": ["left_knee_angle", ...]
  },
  "metadata": { "author": "coach", "date": "2025-05" }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5165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Чому JSON, а не HDF5?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627632"/>
          <a:ext cx="5516573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87"/>
                <a:gridCol w="1379143"/>
                <a:gridCol w="1379143"/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Критерій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HDF5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Читабельність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Git-friendly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Без залежностей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Швидкість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Краще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&lt;5 MB файли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4434840"/>
            <a:ext cx="55165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Зворотна сумісність:</a:t>
            </a:r>
          </a:p>
          <a:p>
            <a:pPr algn="l"/>
            <a:r>
              <a:rPr sz="1400" b="0" i="0">
                <a:solidFill>
                  <a:srgbClr val="CFD8DC"/>
                </a:solidFill>
                <a:latin typeface="Calibri"/>
              </a:rPr>
              <a:t>JSON без поля "signature" → перераховується автоматично при завантаженні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90A0"/>
                </a:solidFill>
                <a:latin typeface="Consolas"/>
              </a:rPr>
              <a:t>Йменування варіантів:   squat.json  |  squat_front.json  |  squat_lowbar.json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Motion Signature — 99-вимірний вектор ознак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87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AF9"/>
                </a:solidFill>
                <a:latin typeface="Calibri"/>
              </a:rPr>
              <a:t>Обчислюється на canonical rep (усереднений повтор), не на всій сесії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6583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72"/>
                <a:gridCol w="790041"/>
                <a:gridCol w="316016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Розмір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Що кодує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Типова постура + проекція камери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Амплітуда руху кожного суглоба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p10 / p90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Робастні екстремуми (глибина присіду)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skewness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Час у нижній vs верхній точці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mean_abs_velocity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Середня швидкість (deg/s)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velocity_asymmetry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Частка кадрів де суглоб розгинається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correlations (upper triangle)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Попарна кореляція суглобів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float32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69480" y="1188720"/>
            <a:ext cx="4510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Метрика схожості: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627632"/>
            <a:ext cx="4510735" cy="18288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792224"/>
            <a:ext cx="4181551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sim(u, r) =
  (u · r) / (‖u‖ · ‖r‖)
Косинусна відстань:
  d = 1 - 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611880"/>
            <a:ext cx="45107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Чому косинусна?</a:t>
            </a:r>
          </a:p>
          <a:p>
            <a:pPr algn="l"/>
            <a:r>
              <a:rPr sz="1400" b="0" i="0">
                <a:solidFill>
                  <a:srgbClr val="CFD8DC"/>
                </a:solidFill>
                <a:latin typeface="Calibri"/>
              </a:rPr>
              <a:t>Масштабно-інваріантна:</a:t>
            </a:r>
          </a:p>
          <a:p>
            <a:pPr algn="l"/>
            <a:r>
              <a:rPr sz="1400" b="0" i="0">
                <a:solidFill>
                  <a:srgbClr val="CFD8DC"/>
                </a:solidFill>
                <a:latin typeface="Calibri"/>
              </a:rPr>
              <a:t>кут коліна ~120° не домінує над нахилом тулуба ~10°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440680"/>
            <a:ext cx="113687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Навіщо canonical rep?</a:t>
            </a:r>
          </a:p>
          <a:p>
            <a:pPr algn="l"/>
            <a:r>
              <a:rPr sz="1400" b="0" i="0">
                <a:solidFill>
                  <a:srgbClr val="CFD8DC"/>
                </a:solidFill>
                <a:latin typeface="Calibri"/>
              </a:rPr>
              <a:t>Signature на всій сесії спотворена паузами між підходами. Canonical rep — один чистий цикл без паразитних фреймів.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Автоматичний вибір найближчого референсу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5760720" cy="36576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53312"/>
            <a:ext cx="5431536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def find_best_match(user_ts, exercise):
    # 1. Завантажити всі варіанти
    candidates = load_family(exercise)
    #  squat.json, squat_front.json, squat_lowbar.json
    if len(candidates) == 1:
        return candidates[0]
    # 2. Обчислити signature користувача
    #    автосегментація → canonical rep → 99-dim вектор
    user_sig = MotionSignature.from_timeseries(user_ts)
    # 3. Знайти найближчий (мінімальна косинусна відстань)
    return min(candidates,
               key=lambda r: user_sig.distance(r.signature))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83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CAF9"/>
                </a:solidFill>
                <a:latin typeface="Calibri"/>
              </a:rPr>
              <a:t>Лог виводу: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94960"/>
            <a:ext cx="5760720" cy="10515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5559552"/>
            <a:ext cx="543153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[ReferenceStore] 3 variants for 'squat'
  ✓ best:    'squat'        dist=0.031
  ✗ skipped: 'squat_lowbar' dist=0.187
  ✗ skipped: 'squat_front'  dist=0.312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88720"/>
            <a:ext cx="53336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Як signature кодує ракурс?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FD8DC"/>
                </a:solidFill>
                <a:latin typeface="Calibri"/>
              </a:rPr>
              <a:t>Той самий суглоб проектується по-різному з різних точок зйомки: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90CAF9"/>
                </a:solidFill>
                <a:latin typeface="Consolas"/>
              </a:rPr>
              <a:t>  Збоку:    коліно  170°→90°  (Δ≈80°)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0CAF9"/>
                </a:solidFill>
                <a:latin typeface="Consolas"/>
              </a:rPr>
              <a:t>  Спереду:  коліно  170°→130° (Δ≈40°)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FD8DC"/>
                </a:solidFill>
                <a:latin typeface="Calibri"/>
              </a:rPr>
              <a:t>Mean, std, p10/p90 — всі вони різні.</a:t>
            </a:r>
          </a:p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Косинусна відстань автоматично знаходить найближчий ракурс.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Сегментація повторів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8735" cy="164592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02920" cy="164592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02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Крок 1  —  PCA-сигнал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Замість одного суглоба — 1-а головна компонента всіх 9 ознак.
PCA об'єднує корельовані рухи і усереднює шум окремих датчиків.
Орієнтація: позитивно корельований з найбільш амплітудною ознакою.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71800"/>
            <a:ext cx="11368735" cy="164592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971800"/>
            <a:ext cx="502920" cy="164592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71800"/>
            <a:ext cx="502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Крок 2  —  Multi-scale згладжування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Три розміри вікна: ×1, ×2, ×4 від базового (Savitzky-Golay).
Грубіше згладжування прибирає внутрішньоповторні піки.
Запускаємо sweep на всіх трьох — беремо найкращий результат.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754880"/>
            <a:ext cx="11368735" cy="164592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754880"/>
            <a:ext cx="502920" cy="164592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754880"/>
            <a:ext cx="502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Крок 3  —  Adaptive prominence sweep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Порогова умова: max(min_prominence, ratio × amplitude).
Перевага позитивним пікам (вершини = стоячи = природна межа rep).
Голова/хвіст включаються лише якщо ≥ max(min_frames, 0.6×median).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Математика сегментації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Коефіцієнт варіації (CV)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Справжні повтори займають приблизно однаковий час → рівні інтервали → мінімальний CV.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423160"/>
            <a:ext cx="5577840" cy="5943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587752"/>
            <a:ext cx="524865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D0F0"/>
                </a:solidFill>
                <a:latin typeface="Consolas"/>
              </a:rPr>
              <a:t>CV = σ(intervals) / μ(intervals)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546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Функція оцінки кандидата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11880"/>
            <a:ext cx="5577840" cy="5943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776472"/>
            <a:ext cx="524865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D0F0"/>
                </a:solidFill>
                <a:latin typeface="Consolas"/>
              </a:rPr>
              <a:t>score = CV + 0.002 × N_peaks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9768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При рівному CV → перевага меншій кількості піків (Occam's Razor).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9834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PCA-сигнал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440680"/>
            <a:ext cx="5577840" cy="10058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5605272"/>
            <a:ext cx="5248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_, _, Vt = np.linalg.svd(centered_data)
pc1 = centered_data @ Vt[0]   # (T,) перша г.к.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88720"/>
            <a:ext cx="5516575" cy="5257800"/>
          </a:xfrm>
          <a:prstGeom prst="rect">
            <a:avLst/>
          </a:prstGeom>
          <a:solidFill>
            <a:srgbClr val="101E3C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80160"/>
            <a:ext cx="5150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5350"/>
                </a:solidFill>
                <a:latin typeface="Calibri"/>
              </a:rPr>
              <a:t>Захист від помилки +1 повтор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5150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Проблема: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FD8DC"/>
                </a:solidFill>
                <a:latin typeface="Calibri"/>
              </a:rPr>
              <a:t>Якщо піки потрапляють у нижню точку руху, і голова, і хвіст сегменту проходять поріг min_frames → N+1 повтор замість N.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Рішення 1: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FD8DC"/>
                </a:solidFill>
                <a:latin typeface="Calibri"/>
              </a:rPr>
              <a:t>Шукаємо позитивні піки першими. Вершини = стоячи = природна межа повтору. Голова і хвіст стають короткими.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Рішення 2: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FD8DC"/>
                </a:solidFill>
                <a:latin typeface="Calibri"/>
              </a:rPr>
              <a:t>Поріг включення: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5486400"/>
            <a:ext cx="5333695" cy="8229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5650992"/>
            <a:ext cx="50045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0F0"/>
                </a:solidFill>
                <a:latin typeface="Consolas"/>
              </a:rPr>
              <a:t>threshold = max(min_frames,
    int(0.6 × median_interior))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DTW порівняння з референсом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Чому не Euclidean?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5486400" cy="22860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515721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Euclidean:  потребує однакову довжину і
            кадрове вирівнювання — нереально.
DTW:  знаходить оптимальне вирівнювання.
  User  [A, B, B, C, D, E]  (повільніший підхід)
  Ref   [a,    b, c, d, e]
  Path: (1,1)(2,2)(3,2)(4,3)(5,4)(6,5)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FastDTW + адаптивний радіус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480560"/>
            <a:ext cx="5486400" cy="16916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645152"/>
            <a:ext cx="5157216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Точний DTW:  O(N²) — нереально для 300 кадрів
FastDTW:     O(N)  — Sakoe-Chiba band
radius = max(r, int(0.15 × max(T_q, T_r)))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188720"/>
            <a:ext cx="56080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Вагові коефіцієнти ознак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1645920"/>
          <a:ext cx="56080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7770"/>
                <a:gridCol w="1570244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Ознака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Вага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torso_lean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left_knee_angle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right_knee_angle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left_hip_angle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right_hip_angle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left_elbow_angle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right_elbow_angle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left_shoulder_angle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right_shoulder_angle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FD8DC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Толерантна зона референсу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87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AF9"/>
                </a:solidFill>
                <a:latin typeface="Calibri"/>
              </a:rPr>
              <a:t>Деякі відхилення — це природна варіативність, а не помилка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Якщо референс містить N &gt; 1 повторів: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5669280" cy="19202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01952"/>
            <a:ext cx="534009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# Усі повтори → медіанна довжина → стек
stacked = np.stack([rep.resample(T).data
                    for rep in reps])  # (N, T, F)
canonical  = stacked.mean(axis=0)  # (T, F)
tolerance  = stacked.std(axis=0)   # (T, 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49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Застосування при порівнянні: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06240"/>
            <a:ext cx="5669280" cy="16002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370832"/>
            <a:ext cx="534009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# DTW path: q_idx → r_idx
tol = tolerance[r_idx]          # (F,)
abs_dev = |raw_dev|
effective = sign(raw) × max(0, abs_dev − tol)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897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CAF9"/>
                </a:solidFill>
                <a:latin typeface="Calibri"/>
              </a:rPr>
              <a:t>Приклад (один кадр):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309360"/>
            <a:ext cx="5669280" cy="10515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6473952"/>
            <a:ext cx="534009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Tolerance: [ 3°,  5°,  2°, ... ]
Raw dev:   [ 7°,  4°,  1°, ... ]
Effective: [ 4°,  0°,  0°, ... ]  ← лише понад межу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4251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Переваги: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FD8DC"/>
                </a:solidFill>
                <a:latin typeface="Calibri"/>
              </a:rPr>
              <a:t>  •  Не штрафуємо природну варіативність еталону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FD8DC"/>
                </a:solidFill>
                <a:latin typeface="Calibri"/>
              </a:rPr>
              <a:t>  •  Відхилення всередині σ еталону = правильно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FD8DC"/>
                </a:solidFill>
                <a:latin typeface="Calibri"/>
              </a:rPr>
              <a:t>  •  Більше ref-повторів → ширша зона → м'якший штраф</a:t>
            </a:r>
          </a:p>
          <a:p>
            <a:pPr algn="l"/>
            <a:r>
              <a:rPr sz="600" b="0" i="0">
                <a:solidFill>
                  <a:srgbClr val="CFD8D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7890A0"/>
                </a:solidFill>
                <a:latin typeface="Calibri"/>
              </a:rPr>
              <a:t>При одному ref-повторі:</a:t>
            </a:r>
          </a:p>
          <a:p>
            <a:pPr algn="l"/>
            <a:r>
              <a:rPr sz="1400" b="0" i="0">
                <a:solidFill>
                  <a:srgbClr val="7890A0"/>
                </a:solidFill>
                <a:latin typeface="Calibri"/>
              </a:rPr>
              <a:t>  tolerance = 0 скрізь → кожне відхилення враховується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Оцінка техніки: математика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Формула оцінки кадру: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6217920" cy="21488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5888736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frame_score(t) = 100 × exp(−k × mean_|dev|(t))
де:
  mean_|dev|(t) = mean(|effective_dev(t, f)|
                       for f in features)
  k = sensitivity = 0.05  (конфіг.)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862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Оцінка повтору і сесії: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343400"/>
            <a:ext cx="6217920" cy="109728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507992"/>
            <a:ext cx="58887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rep_score     = mean(frame_score(t)  for t in rep)
overall_score = mean(rep_score(i)    for i in reps)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5321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Консистентність: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89320"/>
            <a:ext cx="6217920" cy="64008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6153912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consistency = std(rep_scores)   # нижче = стабільніше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18872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CAF9"/>
                </a:solidFill>
                <a:latin typeface="Calibri"/>
              </a:rPr>
              <a:t>Градуювання: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903720" y="1645920"/>
          <a:ext cx="487649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948"/>
                <a:gridCol w="975299"/>
                <a:gridCol w="2438247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Бали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Грейд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Значення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90–100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Відмінно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80–89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Добре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70–79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Непогано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60–69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Слабко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&lt; 60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FD8DC"/>
                          </a:solidFill>
                          <a:latin typeface="Calibri"/>
                        </a:rPr>
                        <a:t>Серйозні проблеми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Класифікація помилок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Два рівні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486400" cy="1097280"/>
          </a:xfrm>
          <a:prstGeom prst="rect">
            <a:avLst/>
          </a:prstGeom>
          <a:solidFill>
            <a:srgbClr val="101E3C"/>
          </a:solidFill>
          <a:ln w="1524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5350"/>
                </a:solidFill>
                <a:latin typeface="Calibri"/>
              </a:rP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828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&gt; 12°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Ризик травми — негайне виправлення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71800"/>
            <a:ext cx="5486400" cy="1097280"/>
          </a:xfrm>
          <a:prstGeom prst="rect">
            <a:avLst/>
          </a:prstGeom>
          <a:solidFill>
            <a:srgbClr val="101E3C"/>
          </a:solidFill>
          <a:ln w="1524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54F"/>
                </a:solidFill>
                <a:latin typeface="Calibri"/>
              </a:rPr>
              <a:t>TECHNICAL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063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&gt; 8°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Ефективність руху — варто покращити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Критичні суглоби (вищий DTW-вага):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80560"/>
            <a:ext cx="5486400" cy="105156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645152"/>
            <a:ext cx="515721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CRITICAL_FEATURES = {
    'left_knee_angle', 'right_knee_angle', 'torso_lean'
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669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Направлення помилки: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126480"/>
            <a:ext cx="5486400" cy="10058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6291072"/>
            <a:ext cx="51572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+ відхилення → суглоб перерозігнутий (занадто відкритий)
- відхилення → суглоб недорозігнутий (мала глибина)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188720"/>
            <a:ext cx="56080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Приклад виводу: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645920"/>
            <a:ext cx="5608015" cy="480060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810512"/>
            <a:ext cx="5278831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left_knee_angle:
  avg_dev = +37°
  → CRITICAL
    (гіперекстензія)
torso_lean:
  avg_dev = +16°
  → CRITICAL
    (надмірний нахил)
left_hip_angle:
  avg_dev = +10°
  → TECHNICAL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Система фідбеку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Rule-based генерація: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6035040" cy="269748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5705856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0F0"/>
                </a:solidFill>
                <a:latin typeface="Consolas"/>
              </a:rPr>
              <a:t>CUES = {
  ('left_knee_angle', POSITIVE): (
    'Don\'t lock out your left knee',
    'Keep a slight bend at the top.'
  ),
  ('torso_lean', POSITIVE): (
    'Keep your chest up',
    'Drive through your heels, brace core.'
  ),
  ...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48056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Пріоритизація: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937759"/>
            <a:ext cx="6035040" cy="109728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5102351"/>
            <a:ext cx="57058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0F0"/>
                </a:solidFill>
                <a:latin typeface="Consolas"/>
              </a:rPr>
              <a:t>1. CRITICAL помилки (&gt; 12°)
2. TECHNICAL помилки (&gt; 8°)
3. В межах кожного рівня: сортування за |відхиленням|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188720"/>
            <a:ext cx="505937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Що включає звіт: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Загальна оцінка + грейд (A–F)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Per-rep розбивка (найкращий / найгірший)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Топ-3 пріоритетних виправлення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Зведена порада для сесії</a:t>
            </a:r>
          </a:p>
          <a:p>
            <a:pPr algn="l"/>
            <a:r>
              <a:rPr sz="1400" b="0" i="0">
                <a:solidFill>
                  <a:srgbClr val="CFD8DC"/>
                </a:solidFill>
                <a:latin typeface="Calibri"/>
              </a:rPr>
              <a:t>  •  Консистентність (std повторів)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Анотація відео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Кольорове кодування скелету: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02920" cy="5029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&lt; 8°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Норма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31720"/>
            <a:ext cx="502920" cy="50292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8°–12°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Технічна помилка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71800"/>
            <a:ext cx="502920" cy="5029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&gt; 12°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D8DC"/>
                </a:solidFill>
                <a:latin typeface="Calibri"/>
              </a:rPr>
              <a:t>Критична (ризик!)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11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Елементи кадру: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69080"/>
            <a:ext cx="5303520" cy="3291840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233672"/>
            <a:ext cx="497433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0F0"/>
                </a:solidFill>
                <a:latin typeface="Consolas"/>
              </a:rPr>
              <a:t>┌─────────────────────────────────────┐
│  Squat              [████████░░] 82 │ ← шкала
│                                     │
│     * (плече)                       │
│    /|\                              │ ← скелет
│   / | \                             │
│  /  |  \                            │
│ * (коліно — червоне)                │
│                                     │
│ ⚠ Bend your left knee more         │ ← банер
└─────────────────────────────────────┘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188720"/>
            <a:ext cx="57908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Другий прохід: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Аналіз зберігає кути суглобів (float32), а не піксельні координати.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Рендеринг повторно запускає PoseDetector у static_image_mode → отримує (x, y) у пікселях → малює.</a:t>
            </a:r>
          </a:p>
          <a:p>
            <a:pPr algn="l"/>
            <a:r>
              <a:rPr sz="1400" b="0" i="0">
                <a:solidFill>
                  <a:srgbClr val="7890A0"/>
                </a:solidFill>
                <a:latin typeface="Calibri"/>
              </a:rPr>
              <a:t>Перевага: аналіз і рендеринг незалежні; аналіз можна запустити без відеовиводу.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Обмеження та слабкі місця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8735" cy="1024128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1.  Чутливість до кута зйомки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6420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Збоку: коліно 170°→90° (Δ≈80°). Спереду: 170°→130° (Δ≈40°).
Рішення: Motion Signature знаходить найближчий ракурс автоматично.
Потрібно: калібрування або 3D-реконструкція пози.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86000"/>
            <a:ext cx="11368735" cy="1024128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2.  Окклюзія суглобів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6148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MediaPipe втрачає точки при поганому освітленні або ракурсі.
Кадри з низькою visibility потрапляють у TimeSeries як шум.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83280"/>
            <a:ext cx="11368735" cy="1024128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456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3.  Тільки 2D кути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587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Проекція 3D руху на 2D площину → геометричні спотворення.
Ідеально: стереокамера або IMU-датчики.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80560"/>
            <a:ext cx="11368735" cy="1024128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553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4.  Rule-based фідбек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5604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Статичні правила. Не враховує контекст: стомленість vs структурний дефект.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577840"/>
            <a:ext cx="11368735" cy="1024128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650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5.  Якість сегментації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5332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При нерівномірному темпі або нечіткому поверненні в стартову позицію
можливі зайві або пропущені повтори.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Плани розвитку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57600" cy="5212080"/>
          </a:xfrm>
          <a:prstGeom prst="rect">
            <a:avLst/>
          </a:prstGeom>
          <a:solidFill>
            <a:srgbClr val="101E3C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3657600" cy="566928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2A5F5"/>
                </a:solidFill>
                <a:latin typeface="Calibri"/>
              </a:rPr>
              <a:t>3–6 місяців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3383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Мобільний додаток (React Native + MediaPipe Mobile SDK)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Push-сповіщення після тренування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Хмарний бекенд — прогрес, синхронізація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Веб-дашборд для тренерів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188720"/>
            <a:ext cx="3657600" cy="5212080"/>
          </a:xfrm>
          <a:prstGeom prst="rect">
            <a:avLst/>
          </a:prstGeom>
          <a:solidFill>
            <a:srgbClr val="101E3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3657600" cy="566928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0CAF9"/>
                </a:solidFill>
                <a:latin typeface="Calibri"/>
              </a:rPr>
              <a:t>6–12 місяців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874520"/>
            <a:ext cx="3383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B2B інтеграція зі спортзалами (камери на стійках)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CRM-інтеграція для тренерів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Бібліотека 50+ вправ від сертифікованих тренерів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LLM-фідбек — контекстний, адаптивний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188720"/>
            <a:ext cx="3657600" cy="5212080"/>
          </a:xfrm>
          <a:prstGeom prst="rect">
            <a:avLst/>
          </a:prstGeom>
          <a:solidFill>
            <a:srgbClr val="101E3C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188720"/>
            <a:ext cx="3657600" cy="566928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6BB6A"/>
                </a:solidFill>
                <a:latin typeface="Calibri"/>
              </a:rPr>
              <a:t>12+ місяців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874520"/>
            <a:ext cx="3383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3D pose estimation (стереокамера / мультикамера)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AI-програма прогресії тренувань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API для партнерів — інтеграція у фітнес-платформи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Аналіз травмонебезпечних рухів (превентивний режим)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Порівняння підходів до аналізу руху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6873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3245"/>
                <a:gridCol w="4320119"/>
                <a:gridCol w="3865369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Підхід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Переваги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Недоліки</a:t>
                      </a:r>
                    </a:p>
                  </a:txBody>
                  <a:tcPr>
                    <a:solidFill>
                      <a:srgbClr val="1A3C7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Кути + DTW  (наш підхід)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Інваріантний до зросту/камери; інтерпретований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2D; потребує схожий ракурс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Сирі координати (x,y)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Просто реалізувати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Залежить від дистанції та зросту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Pixel-level відео (CNN)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Не потребує детекції пози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Чорний ящик; важко пояснити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IMU-сенсори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Точно; справжнє 3D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Спеціальне обладнання; незручно</a:t>
                      </a:r>
                    </a:p>
                  </a:txBody>
                  <a:tcPr>
                    <a:solidFill>
                      <a:srgbClr val="0A18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GPT/Vision LLM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Гнучкий, людяний фідбек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FD8DC"/>
                          </a:solidFill>
                          <a:latin typeface="Calibri"/>
                        </a:rPr>
                        <a:t>Повільно; дорого; нестабільно</a:t>
                      </a:r>
                    </a:p>
                  </a:txBody>
                  <a:tcPr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440680"/>
            <a:ext cx="11368735" cy="1463040"/>
          </a:xfrm>
          <a:prstGeom prst="rect">
            <a:avLst/>
          </a:prstGeom>
          <a:solidFill>
            <a:srgbClr val="1A3C72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Ключова перевага нашого підходу:</a:t>
            </a:r>
          </a:p>
          <a:p>
            <a:pPr algn="l"/>
            <a:r>
              <a:rPr sz="1600" b="0" i="0">
                <a:solidFill>
                  <a:srgbClr val="CFD8DC"/>
                </a:solidFill>
                <a:latin typeface="Calibri"/>
              </a:rPr>
              <a:t>Результат пояснюваний — тренер бачить відхилення по кожному суглобу і розуміє, чому система дала таку оцінку.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Підсумок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57600" cy="5212080"/>
          </a:xfrm>
          <a:prstGeom prst="rect">
            <a:avLst/>
          </a:prstGeom>
          <a:solidFill>
            <a:srgbClr val="101E3C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3657600" cy="59436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3328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BB6A"/>
                </a:solidFill>
                <a:latin typeface="Calibri"/>
              </a:rPr>
              <a:t>✅  Що зроблено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Повний прототип: відео → фідбек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Незалежний від кількості повторів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Автоматичний вибір найближчого референсу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Готовий до інтеграції в мобільний додаток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CLI: record / analyze / list /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188720"/>
            <a:ext cx="3657600" cy="5212080"/>
          </a:xfrm>
          <a:prstGeom prst="rect">
            <a:avLst/>
          </a:prstGeom>
          <a:solidFill>
            <a:srgbClr val="101E3C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3657600" cy="59436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328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A5F5"/>
                </a:solidFill>
                <a:latin typeface="Calibri"/>
              </a:rPr>
              <a:t>🎯  Унікальне позиціювання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901952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Тренер записує власний еталон вправи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Система адаптується під його методику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Масштабування без залучення тренера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Пояснюваний AI (не чорний ящик)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JSON-сховище — Git-friendly, портативне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188720"/>
            <a:ext cx="3657600" cy="5212080"/>
          </a:xfrm>
          <a:prstGeom prst="rect">
            <a:avLst/>
          </a:prstGeom>
          <a:solidFill>
            <a:srgbClr val="101E3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188720"/>
            <a:ext cx="3657600" cy="594360"/>
          </a:xfrm>
          <a:prstGeom prst="rect">
            <a:avLst/>
          </a:prstGeom>
          <a:solidFill>
            <a:srgbClr val="1A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280160"/>
            <a:ext cx="3328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CAF9"/>
                </a:solidFill>
                <a:latin typeface="Calibri"/>
              </a:rPr>
              <a:t>📈  Наступний крок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901952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Мобільний MVP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3 пілотних спортзали для валідації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Збір реального датасету помилок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LLM-фідбек замість rule-based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FD8DC"/>
                </a:solidFill>
                <a:latin typeface="Calibri"/>
              </a:rPr>
              <a:t>  •  3D pose estimation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Дякуємо за увагу!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0CAF9"/>
                </a:solidFill>
                <a:latin typeface="Calibri"/>
              </a:rPr>
              <a:t>AI Fitness Coach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108960"/>
            <a:ext cx="5303520" cy="228600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2004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FD8DC"/>
                </a:solidFill>
                <a:latin typeface="Consolas"/>
              </a:rPr>
              <a:t>  Email:    denis.stepchin123@gmail.com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FD8DC"/>
                </a:solidFill>
                <a:latin typeface="Consolas"/>
              </a:rPr>
              <a:t>  GitHub:   github.com / ai-fitness-coach</a:t>
            </a:r>
          </a:p>
          <a:p>
            <a:pPr algn="l"/>
            <a:r>
              <a:rPr sz="1800" b="0" i="0">
                <a:solidFill>
                  <a:srgbClr val="7890A0"/>
                </a:solidFill>
                <a:latin typeface="Consolas"/>
              </a:rPr>
              <a:t>  Mobile:   [в розробці]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890A0"/>
                </a:solidFill>
                <a:latin typeface="Calibri"/>
              </a:rPr>
              <a:t>"Ваш персональний тренер, доступний 24/7 — у кишені"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Додаток A  —  Структура проекту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8735" cy="5376672"/>
          </a:xfrm>
          <a:prstGeom prst="rect">
            <a:avLst/>
          </a:prstGeom>
          <a:solidFill>
            <a:srgbClr val="070C1A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53312"/>
            <a:ext cx="1103955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D0F0"/>
                </a:solidFill>
                <a:latin typeface="Consolas"/>
              </a:rPr>
              <a:t>ai_trainer/
├── main.py                      CLI: record / analyze / list / demo
├── src/
│   ├── pose/
│   │   ├── detector.py          MediaPipe Tasks API wrapper
│   │   └── keypoints.py         PoseFrame, PoseLandmark
│   ├── features/
│   │   ├── extractor.py         9 кутових ознак  ← FEATURE_NAMES контракт
│   │   └── normalizer.py        Hip-center + torso-scale
│   ├── timeseries/
│   │   ├── builder.py           TimeSeries(T×F), smoothing, resampling
│   │   └── segmentation.py      RepSegmenter: PCA + multi-scale peaks
│   ├── comparison/
│   │   ├── dtw.py               DTWComparator, FastDTW, weights
│   │   └── rep_comparator.py    RepComparator, tolerance band
│   ├── evaluation/
│   │   ├── scorer.py            ScoringEngine: exponential decay
│   │   └── classifier.py        ErrorClassifier: Critical / Technical
│   ├── feedback/
│   │   └── generator.py         FeedbackGenerator: rule-based cues
│   ├── reference/
│   │   ├── store.py             ReferenceStore: CRUD + find_best_match
│   │   └── signature.py         MotionSignature: 99-dim embedding
│   ├── visualization/
│   │   ├── overlay.py           FrameAnnotator
│   │   └── renderer.py          VideoRenderer (2nd pass)
│   └── pipeline.py              AnalysisPipeline — orchestrator
└── references/                  JSON reference files (gitignored)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Додаток B  —  Ключові інваріанти системи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8735" cy="1005840"/>
          </a:xfrm>
          <a:prstGeom prst="rect">
            <a:avLst/>
          </a:prstGeom>
          <a:solidFill>
            <a:srgbClr val="101E3C"/>
          </a:solidFill>
          <a:ln w="9525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5272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5350"/>
                </a:solidFill>
                <a:latin typeface="Calibri"/>
              </a:rPr>
              <a:t>  1.  FEATURE_NAMES — глобальний контракт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64208"/>
            <a:ext cx="11368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Порядок у extractor.py визначає порядок стовпців у кожному масиві (T×F). Зміна = зламані всі збережені референси та весь downstream.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76856"/>
            <a:ext cx="11368735" cy="1005840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40864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2.  Сегментація перед DTW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52344"/>
            <a:ext cx="11368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RepComparator завжди сегментує обидві послідовності і порівнює 1-проти-1. Ніколи не викликати DTWComparator безпосередньо на повній сесії.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64992"/>
            <a:ext cx="11368735" cy="1005840"/>
          </a:xfrm>
          <a:prstGeom prst="rect">
            <a:avLst/>
          </a:prstGeom>
          <a:solidFill>
            <a:srgbClr val="101E3C"/>
          </a:solidFill>
          <a:ln w="952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54F"/>
                </a:solidFill>
                <a:latin typeface="Calibri"/>
              </a:rPr>
              <a:t>  3.  combined_dtw — синтетичний об'єкт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40480"/>
            <a:ext cx="11368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RepComparisonResult.combined_dtw — конкатенація per-rep результатів з ідентичним alignment path. Не використовувати distance або path для per-rep аналізу.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53128"/>
            <a:ext cx="11368735" cy="100584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51713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2A5F5"/>
                </a:solidFill>
                <a:latin typeface="Calibri"/>
              </a:rPr>
              <a:t>  4.  MediaPipe Tasks API — тільки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28616"/>
            <a:ext cx="11368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mediapipe.tasks.python.vision.PoseLandmarker. Ніколи mp.solutions.* — відсутній на Windows у MediaPipe ≥ 0.10.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541264"/>
            <a:ext cx="11368735" cy="1005840"/>
          </a:xfrm>
          <a:prstGeom prst="rect">
            <a:avLst/>
          </a:prstGeom>
          <a:solidFill>
            <a:srgbClr val="101E3C"/>
          </a:solidFill>
          <a:ln w="952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60527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2A5F5"/>
                </a:solidFill>
                <a:latin typeface="Calibri"/>
              </a:rPr>
              <a:t>  5.  Візуалізація — другий прохід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16752"/>
            <a:ext cx="11368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DC"/>
                </a:solidFill>
                <a:latin typeface="Calibri"/>
              </a:rPr>
              <a:t>       Аналіз зберігає кути, а не піксельні координати. Рендеринг повторно запускає детектор у static_image_mode.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